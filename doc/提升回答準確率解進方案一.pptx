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4630400" cy="8229600"/>
  <p:notesSz cx="8229600" cy="14630400"/>
  <p:embeddedFontLst>
    <p:embeddedFont>
      <p:font typeface="Lora"/>
      <p:regular r:id="rId21"/>
    </p:embeddedFont>
    <p:embeddedFont>
      <p:font typeface="Lora"/>
      <p:regular r:id="rId22"/>
    </p:embeddedFont>
    <p:embeddedFont>
      <p:font typeface="Lora"/>
      <p:regular r:id="rId23"/>
    </p:embeddedFont>
    <p:embeddedFont>
      <p:font typeface="Lora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3199" y="573643"/>
            <a:ext cx="7288768" cy="61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階段一：意圖捕獲增強 (高優先級)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833199" y="1788200"/>
            <a:ext cx="3634621" cy="91440"/>
          </a:xfrm>
          <a:prstGeom prst="roundRect">
            <a:avLst>
              <a:gd name="adj" fmla="val 34170"/>
            </a:avLst>
          </a:prstGeom>
          <a:solidFill>
            <a:srgbClr val="38512F"/>
          </a:solidFill>
          <a:ln/>
        </p:spPr>
      </p:sp>
      <p:sp>
        <p:nvSpPr>
          <p:cNvPr id="5" name="Shape 2"/>
          <p:cNvSpPr/>
          <p:nvPr/>
        </p:nvSpPr>
        <p:spPr>
          <a:xfrm>
            <a:off x="2338030" y="1498640"/>
            <a:ext cx="624840" cy="624840"/>
          </a:xfrm>
          <a:prstGeom prst="roundRect">
            <a:avLst>
              <a:gd name="adj" fmla="val 146341"/>
            </a:avLst>
          </a:prstGeom>
          <a:solidFill>
            <a:srgbClr val="38512F"/>
          </a:solidFill>
          <a:ln/>
        </p:spPr>
      </p:sp>
      <p:sp>
        <p:nvSpPr>
          <p:cNvPr id="6" name="Text 3"/>
          <p:cNvSpPr/>
          <p:nvPr/>
        </p:nvSpPr>
        <p:spPr>
          <a:xfrm>
            <a:off x="2525435" y="1654850"/>
            <a:ext cx="249912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64300" y="2331720"/>
            <a:ext cx="2450544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整合實體識別系統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64300" y="2762845"/>
            <a:ext cx="317242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將 entity_recognition.py 的高級功能整合到主服務流程中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64300" y="3502462"/>
            <a:ext cx="317242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實作實體與意圖的關聯分析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64300" y="3908703"/>
            <a:ext cx="317242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加入信心度評分機制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76061" y="1788200"/>
            <a:ext cx="3634740" cy="91440"/>
          </a:xfrm>
          <a:prstGeom prst="roundRect">
            <a:avLst>
              <a:gd name="adj" fmla="val 34170"/>
            </a:avLst>
          </a:prstGeom>
          <a:solidFill>
            <a:srgbClr val="38512F"/>
          </a:solidFill>
          <a:ln/>
        </p:spPr>
      </p:sp>
      <p:sp>
        <p:nvSpPr>
          <p:cNvPr id="12" name="Shape 9"/>
          <p:cNvSpPr/>
          <p:nvPr/>
        </p:nvSpPr>
        <p:spPr>
          <a:xfrm>
            <a:off x="6181011" y="1498640"/>
            <a:ext cx="624840" cy="624840"/>
          </a:xfrm>
          <a:prstGeom prst="roundRect">
            <a:avLst>
              <a:gd name="adj" fmla="val 146341"/>
            </a:avLst>
          </a:prstGeom>
          <a:solidFill>
            <a:srgbClr val="38512F"/>
          </a:solidFill>
          <a:ln/>
        </p:spPr>
      </p:sp>
      <p:sp>
        <p:nvSpPr>
          <p:cNvPr id="13" name="Text 10"/>
          <p:cNvSpPr/>
          <p:nvPr/>
        </p:nvSpPr>
        <p:spPr>
          <a:xfrm>
            <a:off x="6368415" y="1654850"/>
            <a:ext cx="249912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4907161" y="2331720"/>
            <a:ext cx="2450544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多意圖檢測支援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4907161" y="2762845"/>
            <a:ext cx="317253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修改 _parse_query_intent 支援同時檢測多個意圖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907161" y="3502462"/>
            <a:ext cx="3172539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實作意圖優先級排序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907161" y="3908703"/>
            <a:ext cx="317253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處理複合查詢（如：比較 CPU 和 GPU 性能）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33199" y="5304353"/>
            <a:ext cx="7477601" cy="91440"/>
          </a:xfrm>
          <a:prstGeom prst="roundRect">
            <a:avLst>
              <a:gd name="adj" fmla="val 34170"/>
            </a:avLst>
          </a:prstGeom>
          <a:solidFill>
            <a:srgbClr val="38512F"/>
          </a:solidFill>
          <a:ln/>
        </p:spPr>
      </p:sp>
      <p:sp>
        <p:nvSpPr>
          <p:cNvPr id="19" name="Shape 16"/>
          <p:cNvSpPr/>
          <p:nvPr/>
        </p:nvSpPr>
        <p:spPr>
          <a:xfrm>
            <a:off x="4259580" y="5014793"/>
            <a:ext cx="624840" cy="624840"/>
          </a:xfrm>
          <a:prstGeom prst="roundRect">
            <a:avLst>
              <a:gd name="adj" fmla="val 146341"/>
            </a:avLst>
          </a:prstGeom>
          <a:solidFill>
            <a:srgbClr val="38512F"/>
          </a:solidFill>
          <a:ln/>
        </p:spPr>
      </p:sp>
      <p:sp>
        <p:nvSpPr>
          <p:cNvPr id="20" name="Text 17"/>
          <p:cNvSpPr/>
          <p:nvPr/>
        </p:nvSpPr>
        <p:spPr>
          <a:xfrm>
            <a:off x="4446984" y="5171003"/>
            <a:ext cx="249912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1064300" y="5847874"/>
            <a:ext cx="2450544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語義增強匹配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1064300" y="6278999"/>
            <a:ext cx="701540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加入近似匹配支援（模糊搜尋）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64300" y="6685240"/>
            <a:ext cx="701540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實作關鍵字權重計算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64300" y="7091482"/>
            <a:ext cx="701540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加入上下文感知的意圖推斷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76463"/>
            <a:ext cx="7327702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階段二：答案品質提升 (高優先級)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3211235"/>
            <a:ext cx="4318278" cy="837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155" y="425838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結構化輸出改進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047155" y="4692015"/>
            <a:ext cx="389941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實作更穩健的 JSON 解析與錯誤恢復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47155" y="5100280"/>
            <a:ext cx="389941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加入 LLM 輸出驗證機制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47155" y="5508546"/>
            <a:ext cx="389941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優化表格格式處理邏輯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002" y="3211235"/>
            <a:ext cx="4318278" cy="8377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65433" y="425838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回應品質控制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5365433" y="4692015"/>
            <a:ext cx="389941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實作事實準確性檢查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365433" y="5100280"/>
            <a:ext cx="389941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加入回應完整性驗證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365433" y="5508546"/>
            <a:ext cx="389941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建立品質評分系統</a:t>
            </a:r>
            <a:endParaRPr lang="en-US" sz="16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4279" y="3211235"/>
            <a:ext cx="4318278" cy="837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83710" y="425838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動態提示優化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9683710" y="4692015"/>
            <a:ext cx="389941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根據意圖類型動態調整提示模板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9683710" y="5100280"/>
            <a:ext cx="389941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實作提示模板版本管理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683710" y="5508546"/>
            <a:ext cx="389941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加入 A/B 測試支援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39522"/>
            <a:ext cx="6342340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階段三：進階功能 (中優先級)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078950"/>
            <a:ext cx="2957036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查詢理解深化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37724" y="2684264"/>
            <a:ext cx="6221968" cy="1317069"/>
          </a:xfrm>
          <a:prstGeom prst="roundRect">
            <a:avLst>
              <a:gd name="adj" fmla="val 2386"/>
            </a:avLst>
          </a:prstGeom>
          <a:noFill/>
          <a:ln w="22860">
            <a:solidFill>
              <a:srgbClr val="D9CD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0015" y="2916555"/>
            <a:ext cx="2709743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實作查詢改寫與澄清機制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0015" y="3434001"/>
            <a:ext cx="575738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增強系統對用戶查詢的理解能力，提供更精確的回應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7724" y="4210764"/>
            <a:ext cx="6221968" cy="1317069"/>
          </a:xfrm>
          <a:prstGeom prst="roundRect">
            <a:avLst>
              <a:gd name="adj" fmla="val 2386"/>
            </a:avLst>
          </a:prstGeom>
          <a:noFill/>
          <a:ln w="22860">
            <a:solidFill>
              <a:srgbClr val="D9CD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0015" y="444305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加入對話上下文管理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70015" y="4960501"/>
            <a:ext cx="575738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讓系統能夠記住對話歷史，提供連貫的交互體驗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7724" y="5737265"/>
            <a:ext cx="6221968" cy="1317069"/>
          </a:xfrm>
          <a:prstGeom prst="roundRect">
            <a:avLst>
              <a:gd name="adj" fmla="val 2386"/>
            </a:avLst>
          </a:prstGeom>
          <a:noFill/>
          <a:ln w="22860">
            <a:solidFill>
              <a:srgbClr val="D9CD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0015" y="5969556"/>
            <a:ext cx="2956084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支援不完整查詢的智能補全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70015" y="6487001"/>
            <a:ext cx="575738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即使用戶提供的信息不完整，也能理解並給出適當回應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78328" y="2078950"/>
            <a:ext cx="2957036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效能與擴展性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7578328" y="2684264"/>
            <a:ext cx="6221968" cy="1317069"/>
          </a:xfrm>
          <a:prstGeom prst="roundRect">
            <a:avLst>
              <a:gd name="adj" fmla="val 2386"/>
            </a:avLst>
          </a:prstGeom>
          <a:noFill/>
          <a:ln w="22860">
            <a:solidFill>
              <a:srgbClr val="D9C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0619" y="291655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優化意圖檢測效能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10619" y="3434001"/>
            <a:ext cx="575738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提高系統處理速度，減少用戶等待時間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78328" y="4210764"/>
            <a:ext cx="6221968" cy="1317069"/>
          </a:xfrm>
          <a:prstGeom prst="roundRect">
            <a:avLst>
              <a:gd name="adj" fmla="val 2386"/>
            </a:avLst>
          </a:prstGeom>
          <a:noFill/>
          <a:ln w="2286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0619" y="444305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實作結果快取機制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810619" y="4960501"/>
            <a:ext cx="575738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儲存常見查詢結果，減少重複計算，提升回應速度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578328" y="5737265"/>
            <a:ext cx="6221968" cy="1317069"/>
          </a:xfrm>
          <a:prstGeom prst="roundRect">
            <a:avLst>
              <a:gd name="adj" fmla="val 2386"/>
            </a:avLst>
          </a:prstGeom>
          <a:noFill/>
          <a:ln w="22860">
            <a:solidFill>
              <a:srgbClr val="D9CD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0619" y="5969556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加入監控與分析功能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810619" y="6487001"/>
            <a:ext cx="575738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追蹤系統性能，識別瓶頸，持續改進服務質量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998464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預期效果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37724" y="3033117"/>
            <a:ext cx="3603308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40-60%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1407319" y="398597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提升複雜查詢處理能力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37724" y="4419600"/>
            <a:ext cx="360330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系統將能夠更有效地處理多意圖和複合查詢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02850" y="3033117"/>
            <a:ext cx="3603427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80%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272445" y="398597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減少 JSON 解析錯誤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702850" y="4419600"/>
            <a:ext cx="3603427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更穩健的解析機制將大幅降低錯誤率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7724" y="5325308"/>
            <a:ext cx="746855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增強回應準確性和完整性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7724" y="5895975"/>
            <a:ext cx="746855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改善用戶體驗和系統穩定性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70159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實施時間表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7303770" y="2304931"/>
            <a:ext cx="22860" cy="4654510"/>
          </a:xfrm>
          <a:prstGeom prst="roundRect">
            <a:avLst>
              <a:gd name="adj" fmla="val 137440"/>
            </a:avLst>
          </a:prstGeom>
          <a:solidFill>
            <a:srgbClr val="D9CDBA"/>
          </a:solidFill>
          <a:ln/>
        </p:spPr>
      </p:sp>
      <p:sp>
        <p:nvSpPr>
          <p:cNvPr id="4" name="Shape 2"/>
          <p:cNvSpPr/>
          <p:nvPr/>
        </p:nvSpPr>
        <p:spPr>
          <a:xfrm>
            <a:off x="6474143" y="2529126"/>
            <a:ext cx="628293" cy="22860"/>
          </a:xfrm>
          <a:prstGeom prst="roundRect">
            <a:avLst>
              <a:gd name="adj" fmla="val 137440"/>
            </a:avLst>
          </a:prstGeom>
          <a:solidFill>
            <a:srgbClr val="D9CDBA"/>
          </a:solidFill>
          <a:ln/>
        </p:spPr>
      </p:sp>
      <p:sp>
        <p:nvSpPr>
          <p:cNvPr id="5" name="Shape 3"/>
          <p:cNvSpPr/>
          <p:nvPr/>
        </p:nvSpPr>
        <p:spPr>
          <a:xfrm>
            <a:off x="7079575" y="2304931"/>
            <a:ext cx="471249" cy="471249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</p:sp>
      <p:sp>
        <p:nvSpPr>
          <p:cNvPr id="6" name="Text 4"/>
          <p:cNvSpPr/>
          <p:nvPr/>
        </p:nvSpPr>
        <p:spPr>
          <a:xfrm>
            <a:off x="7167384" y="2355771"/>
            <a:ext cx="295632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3803809" y="237684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第1-4週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37724" y="2810470"/>
            <a:ext cx="543020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階段一：意圖捕獲增強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7724" y="3271123"/>
            <a:ext cx="543020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整合實體識別系統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7724" y="3679388"/>
            <a:ext cx="543020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多意圖檢測支援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7724" y="4087654"/>
            <a:ext cx="543020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語義增強匹配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27965" y="3785711"/>
            <a:ext cx="628293" cy="22860"/>
          </a:xfrm>
          <a:prstGeom prst="roundRect">
            <a:avLst>
              <a:gd name="adj" fmla="val 137440"/>
            </a:avLst>
          </a:prstGeom>
          <a:solidFill>
            <a:srgbClr val="D9CDBA"/>
          </a:solidFill>
          <a:ln/>
        </p:spPr>
      </p:sp>
      <p:sp>
        <p:nvSpPr>
          <p:cNvPr id="13" name="Shape 11"/>
          <p:cNvSpPr/>
          <p:nvPr/>
        </p:nvSpPr>
        <p:spPr>
          <a:xfrm>
            <a:off x="7079575" y="3561517"/>
            <a:ext cx="471249" cy="471249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</p:sp>
      <p:sp>
        <p:nvSpPr>
          <p:cNvPr id="14" name="Text 12"/>
          <p:cNvSpPr/>
          <p:nvPr/>
        </p:nvSpPr>
        <p:spPr>
          <a:xfrm>
            <a:off x="7167384" y="3612356"/>
            <a:ext cx="295632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362474" y="3633430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第5-8週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62474" y="4067056"/>
            <a:ext cx="543020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階段二：答案品質提升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2474" y="4527709"/>
            <a:ext cx="543020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結構化輸出改進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2474" y="4935974"/>
            <a:ext cx="543020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回應品質控制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2474" y="5344239"/>
            <a:ext cx="543020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動態提示優化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74143" y="5065752"/>
            <a:ext cx="628293" cy="22860"/>
          </a:xfrm>
          <a:prstGeom prst="roundRect">
            <a:avLst>
              <a:gd name="adj" fmla="val 137440"/>
            </a:avLst>
          </a:prstGeom>
          <a:solidFill>
            <a:srgbClr val="D9CDBA"/>
          </a:solidFill>
          <a:ln/>
        </p:spPr>
      </p:sp>
      <p:sp>
        <p:nvSpPr>
          <p:cNvPr id="21" name="Shape 19"/>
          <p:cNvSpPr/>
          <p:nvPr/>
        </p:nvSpPr>
        <p:spPr>
          <a:xfrm>
            <a:off x="7079575" y="4841558"/>
            <a:ext cx="471249" cy="471249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</p:sp>
      <p:sp>
        <p:nvSpPr>
          <p:cNvPr id="22" name="Text 20"/>
          <p:cNvSpPr/>
          <p:nvPr/>
        </p:nvSpPr>
        <p:spPr>
          <a:xfrm>
            <a:off x="7167384" y="4892397"/>
            <a:ext cx="295632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3803809" y="491347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第9-12週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37724" y="5347097"/>
            <a:ext cx="543020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階段三：進階功能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7724" y="5807750"/>
            <a:ext cx="543020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查詢理解深化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7724" y="6216015"/>
            <a:ext cx="543020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效能與擴展性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7724" y="6624280"/>
            <a:ext cx="543020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測試與優化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30285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技術架構概覽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2269927" y="303561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用戶查詢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37724" y="3469243"/>
            <a:ext cx="389632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接收並預處理用戶輸入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131" y="2365058"/>
            <a:ext cx="4534138" cy="453413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090" y="3296603"/>
            <a:ext cx="313373" cy="3917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96356" y="263163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意圖捕獲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9896356" y="3065264"/>
            <a:ext cx="389632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識別實體與意圖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31" y="2365058"/>
            <a:ext cx="4534138" cy="4534138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988" y="3033713"/>
            <a:ext cx="313373" cy="39171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01131" y="424767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處理邏輯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10001131" y="4681299"/>
            <a:ext cx="379154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根據意圖執行相應操作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131" y="2365058"/>
            <a:ext cx="4534138" cy="4534138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1804" y="4709041"/>
            <a:ext cx="313373" cy="39171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896356" y="586382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知識庫</a:t>
            </a:r>
            <a:endParaRPr lang="en-US" sz="1900" dirty="0"/>
          </a:p>
        </p:txBody>
      </p:sp>
      <p:sp>
        <p:nvSpPr>
          <p:cNvPr id="16" name="Text 8"/>
          <p:cNvSpPr/>
          <p:nvPr/>
        </p:nvSpPr>
        <p:spPr>
          <a:xfrm>
            <a:off x="9896356" y="6297454"/>
            <a:ext cx="389632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存儲與檢索相關信息</a:t>
            </a:r>
            <a:endParaRPr lang="en-US" sz="16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131" y="2365058"/>
            <a:ext cx="4534138" cy="4534138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2113" y="6007298"/>
            <a:ext cx="313373" cy="391716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269927" y="5459730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回應生成</a:t>
            </a:r>
            <a:endParaRPr lang="en-US" sz="1900" dirty="0"/>
          </a:p>
        </p:txBody>
      </p:sp>
      <p:sp>
        <p:nvSpPr>
          <p:cNvPr id="20" name="Text 10"/>
          <p:cNvSpPr/>
          <p:nvPr/>
        </p:nvSpPr>
        <p:spPr>
          <a:xfrm>
            <a:off x="837724" y="5893356"/>
            <a:ext cx="389632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格式化並驗證輸出</a:t>
            </a:r>
            <a:endParaRPr lang="en-US" sz="16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8131" y="2365058"/>
            <a:ext cx="4534138" cy="4534138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3336" y="5134332"/>
            <a:ext cx="313373" cy="3917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10258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階段一詳細實施計劃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249686"/>
            <a:ext cx="2957036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整合實體識別系統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37724" y="2828806"/>
            <a:ext cx="62219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將 entity_recognition.py 的高級功能整合到主服務流程中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3399473"/>
            <a:ext cx="6221968" cy="34842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78328" y="2249686"/>
            <a:ext cx="2957036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多意圖檢測支援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578328" y="2828806"/>
            <a:ext cx="62219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修改 _parse_query_intent 支援同時檢測多個意圖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328" y="3399473"/>
            <a:ext cx="6221968" cy="34842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14005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階段二詳細實施計劃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1753433"/>
            <a:ext cx="2957036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結構化輸出改進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37724" y="2332553"/>
            <a:ext cx="62219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實作更穩健的 JSON 解析與錯誤恢復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7724" y="2903220"/>
            <a:ext cx="6221968" cy="2133600"/>
          </a:xfrm>
          <a:prstGeom prst="roundRect">
            <a:avLst>
              <a:gd name="adj" fmla="val 5143"/>
            </a:avLst>
          </a:prstGeom>
          <a:noFill/>
          <a:ln w="22860">
            <a:solidFill>
              <a:srgbClr val="D9CDB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4864" y="2903220"/>
            <a:ext cx="91440" cy="2133600"/>
          </a:xfrm>
          <a:prstGeom prst="roundRect">
            <a:avLst>
              <a:gd name="adj" fmla="val 34360"/>
            </a:avLst>
          </a:prstGeom>
          <a:solidFill>
            <a:srgbClr val="38512F"/>
          </a:solidFill>
          <a:ln/>
        </p:spPr>
      </p:sp>
      <p:sp>
        <p:nvSpPr>
          <p:cNvPr id="7" name="Text 5"/>
          <p:cNvSpPr/>
          <p:nvPr/>
        </p:nvSpPr>
        <p:spPr>
          <a:xfrm>
            <a:off x="1138595" y="313551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JSON 解析與錯誤恢復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38595" y="3652957"/>
            <a:ext cx="568880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實作錯誤捕獲機制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8595" y="4061222"/>
            <a:ext cx="568880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加入結構驗證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8595" y="4469487"/>
            <a:ext cx="568880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建立回退策略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7724" y="5246251"/>
            <a:ext cx="6221968" cy="2133600"/>
          </a:xfrm>
          <a:prstGeom prst="roundRect">
            <a:avLst>
              <a:gd name="adj" fmla="val 5143"/>
            </a:avLst>
          </a:prstGeom>
          <a:noFill/>
          <a:ln w="22860">
            <a:solidFill>
              <a:srgbClr val="D9CD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4864" y="5246251"/>
            <a:ext cx="91440" cy="2133600"/>
          </a:xfrm>
          <a:prstGeom prst="roundRect">
            <a:avLst>
              <a:gd name="adj" fmla="val 34360"/>
            </a:avLst>
          </a:prstGeom>
          <a:solidFill>
            <a:srgbClr val="38512F"/>
          </a:solidFill>
          <a:ln/>
        </p:spPr>
      </p:sp>
      <p:sp>
        <p:nvSpPr>
          <p:cNvPr id="13" name="Text 11"/>
          <p:cNvSpPr/>
          <p:nvPr/>
        </p:nvSpPr>
        <p:spPr>
          <a:xfrm>
            <a:off x="1138595" y="5478542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LLM 輸出驗證機制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38595" y="5995988"/>
            <a:ext cx="568880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定義驗證規則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8595" y="6404253"/>
            <a:ext cx="568880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實作自動修正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38595" y="6812518"/>
            <a:ext cx="568880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記錄問題模式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78328" y="1753433"/>
            <a:ext cx="2957036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回應品質控制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578328" y="2332553"/>
            <a:ext cx="62219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實作事實準確性檢查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78328" y="2903220"/>
            <a:ext cx="6221968" cy="2133600"/>
          </a:xfrm>
          <a:prstGeom prst="roundRect">
            <a:avLst>
              <a:gd name="adj" fmla="val 5143"/>
            </a:avLst>
          </a:prstGeom>
          <a:noFill/>
          <a:ln w="22860">
            <a:solidFill>
              <a:srgbClr val="D9CDB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55468" y="2903220"/>
            <a:ext cx="91440" cy="2133600"/>
          </a:xfrm>
          <a:prstGeom prst="roundRect">
            <a:avLst>
              <a:gd name="adj" fmla="val 34360"/>
            </a:avLst>
          </a:prstGeom>
          <a:solidFill>
            <a:srgbClr val="38512F"/>
          </a:solidFill>
          <a:ln/>
        </p:spPr>
      </p:sp>
      <p:sp>
        <p:nvSpPr>
          <p:cNvPr id="21" name="Text 19"/>
          <p:cNvSpPr/>
          <p:nvPr/>
        </p:nvSpPr>
        <p:spPr>
          <a:xfrm>
            <a:off x="7879199" y="313551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事實準確性檢查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879199" y="3652957"/>
            <a:ext cx="568880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建立知識庫比對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79199" y="4061222"/>
            <a:ext cx="568880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實作來源引用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79199" y="4469487"/>
            <a:ext cx="568880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加入不確定性標記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78328" y="5246251"/>
            <a:ext cx="6221968" cy="2133600"/>
          </a:xfrm>
          <a:prstGeom prst="roundRect">
            <a:avLst>
              <a:gd name="adj" fmla="val 5143"/>
            </a:avLst>
          </a:prstGeom>
          <a:noFill/>
          <a:ln w="22860">
            <a:solidFill>
              <a:srgbClr val="D9CDB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55468" y="5246251"/>
            <a:ext cx="91440" cy="2133600"/>
          </a:xfrm>
          <a:prstGeom prst="roundRect">
            <a:avLst>
              <a:gd name="adj" fmla="val 34360"/>
            </a:avLst>
          </a:prstGeom>
          <a:solidFill>
            <a:srgbClr val="38512F"/>
          </a:solidFill>
          <a:ln/>
        </p:spPr>
      </p:sp>
      <p:sp>
        <p:nvSpPr>
          <p:cNvPr id="27" name="Text 25"/>
          <p:cNvSpPr/>
          <p:nvPr/>
        </p:nvSpPr>
        <p:spPr>
          <a:xfrm>
            <a:off x="7879199" y="5478542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回應完整性驗證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879199" y="5995988"/>
            <a:ext cx="568880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檢查必要元素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879199" y="6404253"/>
            <a:ext cx="568880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評估資訊充分性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79199" y="6812518"/>
            <a:ext cx="568880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識別遺漏內容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90293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階段三詳細實施計劃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5191" y="2425065"/>
            <a:ext cx="1282422" cy="7268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9182" y="2682002"/>
            <a:ext cx="294442" cy="368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00"/>
              </a:lnSpc>
              <a:buNone/>
            </a:pPr>
            <a:r>
              <a:rPr lang="en-US" sz="2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4927044" y="2634496"/>
            <a:ext cx="123170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監控與分析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4769882" y="3168491"/>
            <a:ext cx="8970526" cy="11430"/>
          </a:xfrm>
          <a:prstGeom prst="roundRect">
            <a:avLst>
              <a:gd name="adj" fmla="val 274880"/>
            </a:avLst>
          </a:prstGeom>
          <a:solidFill>
            <a:srgbClr val="D9CDB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921" y="3204210"/>
            <a:ext cx="2564963" cy="7268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29182" y="3383518"/>
            <a:ext cx="294442" cy="368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00"/>
              </a:lnSpc>
              <a:buNone/>
            </a:pPr>
            <a:r>
              <a:rPr lang="en-US" sz="2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5568315" y="3413641"/>
            <a:ext cx="147804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結果快取機制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5411153" y="3947636"/>
            <a:ext cx="8329255" cy="11430"/>
          </a:xfrm>
          <a:prstGeom prst="roundRect">
            <a:avLst>
              <a:gd name="adj" fmla="val 274880"/>
            </a:avLst>
          </a:prstGeom>
          <a:solidFill>
            <a:srgbClr val="D9CDB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50" y="3983355"/>
            <a:ext cx="3847505" cy="72687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29182" y="4162663"/>
            <a:ext cx="294442" cy="368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00"/>
              </a:lnSpc>
              <a:buNone/>
            </a:pPr>
            <a:r>
              <a:rPr lang="en-US" sz="2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300" dirty="0"/>
          </a:p>
        </p:txBody>
      </p:sp>
      <p:sp>
        <p:nvSpPr>
          <p:cNvPr id="13" name="Text 8"/>
          <p:cNvSpPr/>
          <p:nvPr/>
        </p:nvSpPr>
        <p:spPr>
          <a:xfrm>
            <a:off x="6209586" y="4192786"/>
            <a:ext cx="1970723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意圖檢測效能優化</a:t>
            </a:r>
            <a:endParaRPr lang="en-US" sz="1900" dirty="0"/>
          </a:p>
        </p:txBody>
      </p:sp>
      <p:sp>
        <p:nvSpPr>
          <p:cNvPr id="14" name="Shape 9"/>
          <p:cNvSpPr/>
          <p:nvPr/>
        </p:nvSpPr>
        <p:spPr>
          <a:xfrm>
            <a:off x="6052423" y="4726781"/>
            <a:ext cx="7687985" cy="11430"/>
          </a:xfrm>
          <a:prstGeom prst="roundRect">
            <a:avLst>
              <a:gd name="adj" fmla="val 274880"/>
            </a:avLst>
          </a:prstGeom>
          <a:solidFill>
            <a:srgbClr val="D9CDBA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79" y="4762500"/>
            <a:ext cx="5130046" cy="72687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29063" y="4941808"/>
            <a:ext cx="294442" cy="368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00"/>
              </a:lnSpc>
              <a:buNone/>
            </a:pPr>
            <a:r>
              <a:rPr lang="en-US" sz="2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2300" dirty="0"/>
          </a:p>
        </p:txBody>
      </p:sp>
      <p:sp>
        <p:nvSpPr>
          <p:cNvPr id="17" name="Text 11"/>
          <p:cNvSpPr/>
          <p:nvPr/>
        </p:nvSpPr>
        <p:spPr>
          <a:xfrm>
            <a:off x="6850856" y="4971931"/>
            <a:ext cx="2217063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不完整查詢智能補全</a:t>
            </a:r>
            <a:endParaRPr lang="en-US" sz="1900" dirty="0"/>
          </a:p>
        </p:txBody>
      </p:sp>
      <p:sp>
        <p:nvSpPr>
          <p:cNvPr id="18" name="Shape 12"/>
          <p:cNvSpPr/>
          <p:nvPr/>
        </p:nvSpPr>
        <p:spPr>
          <a:xfrm>
            <a:off x="6693694" y="5505926"/>
            <a:ext cx="7046714" cy="11430"/>
          </a:xfrm>
          <a:prstGeom prst="roundRect">
            <a:avLst>
              <a:gd name="adj" fmla="val 274880"/>
            </a:avLst>
          </a:prstGeom>
          <a:solidFill>
            <a:srgbClr val="D9CDB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09" y="5541645"/>
            <a:ext cx="6412587" cy="72687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929063" y="5720953"/>
            <a:ext cx="294442" cy="368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00"/>
              </a:lnSpc>
              <a:buNone/>
            </a:pPr>
            <a:r>
              <a:rPr lang="en-US" sz="2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2300" dirty="0"/>
          </a:p>
        </p:txBody>
      </p:sp>
      <p:sp>
        <p:nvSpPr>
          <p:cNvPr id="21" name="Text 14"/>
          <p:cNvSpPr/>
          <p:nvPr/>
        </p:nvSpPr>
        <p:spPr>
          <a:xfrm>
            <a:off x="7492127" y="5751076"/>
            <a:ext cx="172438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對話上下文管理</a:t>
            </a:r>
            <a:endParaRPr lang="en-US" sz="1900" dirty="0"/>
          </a:p>
        </p:txBody>
      </p:sp>
      <p:sp>
        <p:nvSpPr>
          <p:cNvPr id="22" name="Text 15"/>
          <p:cNvSpPr/>
          <p:nvPr/>
        </p:nvSpPr>
        <p:spPr>
          <a:xfrm>
            <a:off x="837724" y="6504146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階段三將專注於系統的進階功能，從基礎的查詢理解深化到效能與擴展性的提升，逐步建立更完善的系統架構。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82435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預期效果詳細分析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521863"/>
            <a:ext cx="4134207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提升複雜查詢處理能力 40-60%</a:t>
            </a:r>
            <a:endParaRPr lang="en-US" sz="2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3127177"/>
            <a:ext cx="6221968" cy="285583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64869" y="5983010"/>
            <a:ext cx="209431" cy="209431"/>
          </a:xfrm>
          <a:prstGeom prst="roundRect">
            <a:avLst>
              <a:gd name="adj" fmla="val 8732"/>
            </a:avLst>
          </a:prstGeom>
          <a:solidFill>
            <a:srgbClr val="21301C"/>
          </a:solidFill>
          <a:ln/>
        </p:spPr>
      </p:sp>
      <p:sp>
        <p:nvSpPr>
          <p:cNvPr id="6" name="Text 3"/>
          <p:cNvSpPr/>
          <p:nvPr/>
        </p:nvSpPr>
        <p:spPr>
          <a:xfrm>
            <a:off x="3035260" y="5983010"/>
            <a:ext cx="837248" cy="20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現有系統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24908" y="5983010"/>
            <a:ext cx="209431" cy="209431"/>
          </a:xfrm>
          <a:prstGeom prst="roundRect">
            <a:avLst>
              <a:gd name="adj" fmla="val 8732"/>
            </a:avLst>
          </a:prstGeom>
          <a:solidFill>
            <a:srgbClr val="45643A"/>
          </a:solidFill>
          <a:ln/>
        </p:spPr>
      </p:sp>
      <p:sp>
        <p:nvSpPr>
          <p:cNvPr id="8" name="Text 5"/>
          <p:cNvSpPr/>
          <p:nvPr/>
        </p:nvSpPr>
        <p:spPr>
          <a:xfrm>
            <a:off x="4295299" y="5983010"/>
            <a:ext cx="627936" cy="20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改進後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78328" y="2521863"/>
            <a:ext cx="3349228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減少 JSON 解析錯誤 80%</a:t>
            </a:r>
            <a:endParaRPr lang="en-US" sz="2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328" y="3127177"/>
            <a:ext cx="6221968" cy="324433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911822" y="6401991"/>
            <a:ext cx="209431" cy="209431"/>
          </a:xfrm>
          <a:prstGeom prst="roundRect">
            <a:avLst>
              <a:gd name="adj" fmla="val 8732"/>
            </a:avLst>
          </a:prstGeom>
          <a:solidFill>
            <a:srgbClr val="21301C"/>
          </a:solidFill>
          <a:ln/>
        </p:spPr>
      </p:sp>
      <p:sp>
        <p:nvSpPr>
          <p:cNvPr id="12" name="Text 8"/>
          <p:cNvSpPr/>
          <p:nvPr/>
        </p:nvSpPr>
        <p:spPr>
          <a:xfrm>
            <a:off x="8182213" y="6401991"/>
            <a:ext cx="837248" cy="20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結構錯誤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9234011" y="6401991"/>
            <a:ext cx="209431" cy="209431"/>
          </a:xfrm>
          <a:prstGeom prst="roundRect">
            <a:avLst>
              <a:gd name="adj" fmla="val 8732"/>
            </a:avLst>
          </a:prstGeom>
          <a:solidFill>
            <a:srgbClr val="46653B"/>
          </a:solidFill>
          <a:ln/>
        </p:spPr>
      </p:sp>
      <p:sp>
        <p:nvSpPr>
          <p:cNvPr id="14" name="Text 10"/>
          <p:cNvSpPr/>
          <p:nvPr/>
        </p:nvSpPr>
        <p:spPr>
          <a:xfrm>
            <a:off x="9504402" y="6401991"/>
            <a:ext cx="1046559" cy="20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格式不一致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0932200" y="6401991"/>
            <a:ext cx="209431" cy="209431"/>
          </a:xfrm>
          <a:prstGeom prst="roundRect">
            <a:avLst>
              <a:gd name="adj" fmla="val 8732"/>
            </a:avLst>
          </a:prstGeom>
          <a:solidFill>
            <a:srgbClr val="6A9959"/>
          </a:solidFill>
          <a:ln/>
        </p:spPr>
      </p:sp>
      <p:sp>
        <p:nvSpPr>
          <p:cNvPr id="16" name="Text 12"/>
          <p:cNvSpPr/>
          <p:nvPr/>
        </p:nvSpPr>
        <p:spPr>
          <a:xfrm>
            <a:off x="11202591" y="6401991"/>
            <a:ext cx="837248" cy="20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缺少欄位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12359045" y="6401991"/>
            <a:ext cx="209431" cy="209431"/>
          </a:xfrm>
          <a:prstGeom prst="roundRect">
            <a:avLst>
              <a:gd name="adj" fmla="val 8732"/>
            </a:avLst>
          </a:prstGeom>
          <a:solidFill>
            <a:srgbClr val="97BB8A"/>
          </a:solidFill>
          <a:ln/>
        </p:spPr>
      </p:sp>
      <p:sp>
        <p:nvSpPr>
          <p:cNvPr id="18" name="Text 14"/>
          <p:cNvSpPr/>
          <p:nvPr/>
        </p:nvSpPr>
        <p:spPr>
          <a:xfrm>
            <a:off x="12629436" y="6401991"/>
            <a:ext cx="837248" cy="20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其他錯誤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030730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系統架構改進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24124" y="3170158"/>
            <a:ext cx="2957036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現有架構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324124" y="3749278"/>
            <a:ext cx="34787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單一意圖處理流程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24124" y="4157543"/>
            <a:ext cx="34787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基本實體識別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24124" y="4565809"/>
            <a:ext cx="34787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簡單的 JSON 解析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24124" y="4974074"/>
            <a:ext cx="34787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靜態提示模板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24124" y="5382339"/>
            <a:ext cx="34787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有限的錯誤處理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321528" y="3170158"/>
            <a:ext cx="2957036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改進後架構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0321528" y="3749278"/>
            <a:ext cx="34787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多意圖並行處理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321528" y="4157543"/>
            <a:ext cx="34787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高級實體關聯分析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321528" y="4565809"/>
            <a:ext cx="34787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穩健的結構化輸出處理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321528" y="4974074"/>
            <a:ext cx="34787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動態提示優化系統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321528" y="5382339"/>
            <a:ext cx="34787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全面的錯誤恢復機制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321528" y="5790605"/>
            <a:ext cx="34787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效能監控與分析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268736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風險評估與緩解策略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37724" y="3303508"/>
            <a:ext cx="4178618" cy="2657237"/>
          </a:xfrm>
          <a:prstGeom prst="roundRect">
            <a:avLst>
              <a:gd name="adj" fmla="val 1182"/>
            </a:avLst>
          </a:prstGeom>
          <a:noFill/>
          <a:ln w="22860">
            <a:solidFill>
              <a:srgbClr val="D9CD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0584" y="3326368"/>
            <a:ext cx="4132898" cy="628293"/>
          </a:xfrm>
          <a:prstGeom prst="roundRect">
            <a:avLst>
              <a:gd name="adj" fmla="val 635"/>
            </a:avLst>
          </a:prstGeom>
          <a:solidFill>
            <a:srgbClr val="F3E7D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9989" y="3444121"/>
            <a:ext cx="314087" cy="3926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0015" y="4164092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技術風險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70015" y="4597718"/>
            <a:ext cx="371403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複雜意圖檢測可能導致誤判增加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0015" y="5058370"/>
            <a:ext cx="3714036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緩解策略：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實施嚴格的測試流程，建立信心度閾值機制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25772" y="3303508"/>
            <a:ext cx="4178737" cy="2657237"/>
          </a:xfrm>
          <a:prstGeom prst="roundRect">
            <a:avLst>
              <a:gd name="adj" fmla="val 1182"/>
            </a:avLst>
          </a:prstGeom>
          <a:noFill/>
          <a:ln w="22860">
            <a:solidFill>
              <a:srgbClr val="D9CDB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48632" y="3326368"/>
            <a:ext cx="4133017" cy="628293"/>
          </a:xfrm>
          <a:prstGeom prst="roundRect">
            <a:avLst>
              <a:gd name="adj" fmla="val 635"/>
            </a:avLst>
          </a:prstGeom>
          <a:solidFill>
            <a:srgbClr val="F3E7D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038" y="3444121"/>
            <a:ext cx="314087" cy="3926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8063" y="4164092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時間風險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458063" y="4597718"/>
            <a:ext cx="37141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階段一整合可能需要比預期更長時間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458063" y="5058370"/>
            <a:ext cx="3714155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緩解策略：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採用增量式開發，優先實施核心功能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9613940" y="3303508"/>
            <a:ext cx="4178737" cy="2657237"/>
          </a:xfrm>
          <a:prstGeom prst="roundRect">
            <a:avLst>
              <a:gd name="adj" fmla="val 1182"/>
            </a:avLst>
          </a:prstGeom>
          <a:noFill/>
          <a:ln w="22860">
            <a:solidFill>
              <a:srgbClr val="D9CDB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36800" y="3326368"/>
            <a:ext cx="4133017" cy="628293"/>
          </a:xfrm>
          <a:prstGeom prst="roundRect">
            <a:avLst>
              <a:gd name="adj" fmla="val 635"/>
            </a:avLst>
          </a:prstGeom>
          <a:solidFill>
            <a:srgbClr val="F3E7D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6205" y="3444121"/>
            <a:ext cx="314087" cy="3926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46231" y="4164092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效能風險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9846231" y="4597718"/>
            <a:ext cx="37141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多意圖處理可能增加系統負載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9846231" y="5058370"/>
            <a:ext cx="3714155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緩解策略：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實施效能基準測試，優化關鍵路徑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428" y="521375"/>
            <a:ext cx="4461510" cy="557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團隊分工與資源分配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58428" y="1552813"/>
            <a:ext cx="2676882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團隊組成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428" y="2100620"/>
            <a:ext cx="473988" cy="4739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428" y="2811542"/>
            <a:ext cx="2230755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後端開發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8428" y="3279934"/>
            <a:ext cx="6325553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負責核心功能實作與系統整合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28" y="4057293"/>
            <a:ext cx="473988" cy="4739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8428" y="4768215"/>
            <a:ext cx="2230755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專家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58428" y="5236607"/>
            <a:ext cx="6325553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負責 LLM 提示優化與模型調整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28" y="6013966"/>
            <a:ext cx="473988" cy="4739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8428" y="6724888"/>
            <a:ext cx="2230755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QA 工程師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58428" y="7193280"/>
            <a:ext cx="6325553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負責測試與品質保證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7554039" y="1552813"/>
            <a:ext cx="2676882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資源分配</a:t>
            </a:r>
            <a:endParaRPr lang="en-US" sz="2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4039" y="2100620"/>
            <a:ext cx="6325553" cy="3322201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741807" y="5453301"/>
            <a:ext cx="189548" cy="189548"/>
          </a:xfrm>
          <a:prstGeom prst="roundRect">
            <a:avLst>
              <a:gd name="adj" fmla="val 9648"/>
            </a:avLst>
          </a:prstGeom>
          <a:solidFill>
            <a:srgbClr val="21301C"/>
          </a:solidFill>
          <a:ln/>
        </p:spPr>
      </p:sp>
      <p:sp>
        <p:nvSpPr>
          <p:cNvPr id="16" name="Text 10"/>
          <p:cNvSpPr/>
          <p:nvPr/>
        </p:nvSpPr>
        <p:spPr>
          <a:xfrm>
            <a:off x="8992314" y="5453301"/>
            <a:ext cx="568643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階段一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10307241" y="5453301"/>
            <a:ext cx="189548" cy="189548"/>
          </a:xfrm>
          <a:prstGeom prst="roundRect">
            <a:avLst>
              <a:gd name="adj" fmla="val 9648"/>
            </a:avLst>
          </a:prstGeom>
          <a:solidFill>
            <a:srgbClr val="527645"/>
          </a:solidFill>
          <a:ln/>
        </p:spPr>
      </p:sp>
      <p:sp>
        <p:nvSpPr>
          <p:cNvPr id="18" name="Text 12"/>
          <p:cNvSpPr/>
          <p:nvPr/>
        </p:nvSpPr>
        <p:spPr>
          <a:xfrm>
            <a:off x="10557748" y="5453301"/>
            <a:ext cx="568643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階段二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11872674" y="5453301"/>
            <a:ext cx="189548" cy="189548"/>
          </a:xfrm>
          <a:prstGeom prst="roundRect">
            <a:avLst>
              <a:gd name="adj" fmla="val 9648"/>
            </a:avLst>
          </a:prstGeom>
          <a:solidFill>
            <a:srgbClr val="87B179"/>
          </a:solidFill>
          <a:ln/>
        </p:spPr>
      </p:sp>
      <p:sp>
        <p:nvSpPr>
          <p:cNvPr id="20" name="Text 14"/>
          <p:cNvSpPr/>
          <p:nvPr/>
        </p:nvSpPr>
        <p:spPr>
          <a:xfrm>
            <a:off x="12123182" y="5453301"/>
            <a:ext cx="568643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階段三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244" y="559594"/>
            <a:ext cx="4777978" cy="597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結論與下一步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812244" y="1461373"/>
            <a:ext cx="7519511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本計劃將顯著提升系統的意圖捕獲能力和答案品質，為用戶提供更準確、更完整的回應。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812244" y="2339578"/>
            <a:ext cx="203002" cy="1218367"/>
          </a:xfrm>
          <a:prstGeom prst="roundRect">
            <a:avLst>
              <a:gd name="adj" fmla="val 15005"/>
            </a:avLst>
          </a:prstGeom>
          <a:solidFill>
            <a:srgbClr val="F3E7D4"/>
          </a:solidFill>
          <a:ln/>
        </p:spPr>
      </p:sp>
      <p:sp>
        <p:nvSpPr>
          <p:cNvPr id="6" name="Text 3"/>
          <p:cNvSpPr/>
          <p:nvPr/>
        </p:nvSpPr>
        <p:spPr>
          <a:xfrm>
            <a:off x="1218248" y="2542580"/>
            <a:ext cx="2388989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立即行動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218248" y="2962989"/>
            <a:ext cx="7113508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開始階段一的實體識別系統整合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116806" y="3710226"/>
            <a:ext cx="203002" cy="1218367"/>
          </a:xfrm>
          <a:prstGeom prst="roundRect">
            <a:avLst>
              <a:gd name="adj" fmla="val 15005"/>
            </a:avLst>
          </a:prstGeom>
          <a:solidFill>
            <a:srgbClr val="F3E7D4"/>
          </a:solidFill>
          <a:ln/>
        </p:spPr>
      </p:sp>
      <p:sp>
        <p:nvSpPr>
          <p:cNvPr id="9" name="Text 6"/>
          <p:cNvSpPr/>
          <p:nvPr/>
        </p:nvSpPr>
        <p:spPr>
          <a:xfrm>
            <a:off x="1522809" y="3913227"/>
            <a:ext cx="2388989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短期目標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522809" y="4333637"/>
            <a:ext cx="6808946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在4週內完成階段一所有功能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1421368" y="5080873"/>
            <a:ext cx="203002" cy="1218367"/>
          </a:xfrm>
          <a:prstGeom prst="roundRect">
            <a:avLst>
              <a:gd name="adj" fmla="val 15005"/>
            </a:avLst>
          </a:prstGeom>
          <a:solidFill>
            <a:srgbClr val="F3E7D4"/>
          </a:solidFill>
          <a:ln/>
        </p:spPr>
      </p:sp>
      <p:sp>
        <p:nvSpPr>
          <p:cNvPr id="12" name="Text 9"/>
          <p:cNvSpPr/>
          <p:nvPr/>
        </p:nvSpPr>
        <p:spPr>
          <a:xfrm>
            <a:off x="1827371" y="5283875"/>
            <a:ext cx="2388989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中期目標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827371" y="5704284"/>
            <a:ext cx="6504384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在8週內完成階段二，提升答案品質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1725930" y="6451521"/>
            <a:ext cx="203002" cy="1218367"/>
          </a:xfrm>
          <a:prstGeom prst="roundRect">
            <a:avLst>
              <a:gd name="adj" fmla="val 15005"/>
            </a:avLst>
          </a:prstGeom>
          <a:solidFill>
            <a:srgbClr val="F3E7D4"/>
          </a:solidFill>
          <a:ln/>
        </p:spPr>
      </p:sp>
      <p:sp>
        <p:nvSpPr>
          <p:cNvPr id="15" name="Text 12"/>
          <p:cNvSpPr/>
          <p:nvPr/>
        </p:nvSpPr>
        <p:spPr>
          <a:xfrm>
            <a:off x="2131933" y="6654522"/>
            <a:ext cx="2388989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長期願景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2131933" y="7074932"/>
            <a:ext cx="619982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建立業界領先的智能問答系統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2025-07-18T03:18:12Z</dcterms:created>
  <dcterms:modified xsi:type="dcterms:W3CDTF">2025-07-18T03:18:12Z</dcterms:modified>
</cp:coreProperties>
</file>