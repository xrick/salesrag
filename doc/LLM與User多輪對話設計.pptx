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Brygada 1918 Semi Bold"/>
      <p:regular r:id="rId18"/>
    </p:embeddedFont>
    <p:embeddedFont>
      <p:font typeface="Brygada 1918 Semi Bold"/>
      <p:regular r:id="rId19"/>
    </p:embeddedFont>
    <p:embeddedFont>
      <p:font typeface="Brygada 1918 Semi Bold"/>
      <p:regular r:id="rId20"/>
    </p:embeddedFont>
    <p:embeddedFont>
      <p:font typeface="Brygada 1918 Semi Bold"/>
      <p:regular r:id="rId21"/>
    </p:embeddedFont>
    <p:embeddedFont>
      <p:font typeface="Brygada 1918"/>
      <p:regular r:id="rId22"/>
    </p:embeddedFont>
    <p:embeddedFont>
      <p:font typeface="Brygada 1918"/>
      <p:regular r:id="rId23"/>
    </p:embeddedFont>
    <p:embeddedFont>
      <p:font typeface="Brygada 1918"/>
      <p:regular r:id="rId24"/>
    </p:embeddedFont>
    <p:embeddedFont>
      <p:font typeface="Brygada 1918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6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7026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非常好的建議！這兩個改進方向將顯著提升 SalesRAG 系統的智能化程度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5034915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讓我詳細分析這兩個建議的可行性和實作方案。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4115"/>
            <a:ext cx="752998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🎯</a:t>
            </a:r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建議 1：更細緻的意圖分類系統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1184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💡</a:t>
            </a:r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改進概念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08157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將現有的 11 種基礎意圖進一步細分為更具體的使用場景意圖，例如：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62235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現有意圖 → 細分意圖</a:t>
            </a:r>
            <a:endParaRPr lang="en-US" sz="1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4163139"/>
            <a:ext cx="4347567" cy="7937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2148" y="51552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gpu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92148" y="5584507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gaming_gpu、professional_gpu、basic_gpu</a:t>
            </a:r>
            <a:endParaRPr lang="en-US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4163139"/>
            <a:ext cx="4347567" cy="7937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39715" y="51552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cpu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339715" y="5584507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gaming_cpu、productivity_cpu、energy_efficient_cpu</a:t>
            </a:r>
            <a:endParaRPr lang="en-US" sz="15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4163139"/>
            <a:ext cx="4347567" cy="7937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87282" y="51552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comparison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9687282" y="5584507"/>
            <a:ext cx="395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gaming_comparison、business_comparison、budget_comparison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1272" y="449461"/>
            <a:ext cx="4070866" cy="50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🏗️</a:t>
            </a:r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建議的新結構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1272" y="1283851"/>
            <a:ext cx="13327856" cy="6496288"/>
          </a:xfrm>
          <a:prstGeom prst="roundRect">
            <a:avLst>
              <a:gd name="adj" fmla="val 3760"/>
            </a:avLst>
          </a:prstGeom>
          <a:solidFill>
            <a:srgbClr val="E9DEC7"/>
          </a:solidFill>
          <a:ln/>
        </p:spPr>
      </p:sp>
      <p:sp>
        <p:nvSpPr>
          <p:cNvPr id="4" name="Shape 2"/>
          <p:cNvSpPr/>
          <p:nvPr/>
        </p:nvSpPr>
        <p:spPr>
          <a:xfrm>
            <a:off x="643176" y="1283851"/>
            <a:ext cx="13344049" cy="6496288"/>
          </a:xfrm>
          <a:prstGeom prst="roundRect">
            <a:avLst>
              <a:gd name="adj" fmla="val 376"/>
            </a:avLst>
          </a:prstGeom>
          <a:solidFill>
            <a:srgbClr val="E9DEC7"/>
          </a:solidFill>
          <a:ln/>
        </p:spPr>
      </p:sp>
      <p:sp>
        <p:nvSpPr>
          <p:cNvPr id="5" name="Text 3"/>
          <p:cNvSpPr/>
          <p:nvPr/>
        </p:nvSpPr>
        <p:spPr>
          <a:xfrm>
            <a:off x="805934" y="1405890"/>
            <a:ext cx="13018532" cy="6252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 "intent_keywords": {  "gaming_performance": {  "keywords": ["遊戲", "gaming", "電競", "FPS", "幀率", "顯卡性能"],  "description": "遊戲性能相關查詢",  "parent_intent": "gpu",  "priority": "high",  "related_specs": ["gpu", "cpu", "memory", "display"]  },  "business_productivity": {  "keywords": ["辦公", "工作", "商務", "文書", "Excel", "PowerPoint"],  "description": "商務辦公相關查詢",  "parent_intent": "cpu",  "priority": "medium",  "related_specs": ["cpu", "memory", "battery", "portability"]  },  "content_creation": {  "keywords": ["影片編輯", "設計", "繪圖", "渲染", "Adobe", "創作"],  "description": "內容創作相關查詢",  "parent_intent": "gpu",  "priority": "high",  "related_specs": ["gpu", "cpu", "memory", "storage"]  } } }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546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✅</a:t>
            </a:r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優勢分析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4017169"/>
            <a:ext cx="4215289" cy="91440"/>
          </a:xfrm>
          <a:prstGeom prst="roundRect">
            <a:avLst>
              <a:gd name="adj" fmla="val 325581"/>
            </a:avLst>
          </a:prstGeom>
          <a:solidFill>
            <a:srgbClr val="626C3B"/>
          </a:solidFill>
          <a:ln/>
        </p:spPr>
      </p:sp>
      <p:sp>
        <p:nvSpPr>
          <p:cNvPr id="4" name="Shape 2"/>
          <p:cNvSpPr/>
          <p:nvPr/>
        </p:nvSpPr>
        <p:spPr>
          <a:xfrm>
            <a:off x="2603778" y="3742373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626C3B"/>
          </a:solidFill>
          <a:ln/>
        </p:spPr>
      </p:sp>
      <p:sp>
        <p:nvSpPr>
          <p:cNvPr id="5" name="Text 3"/>
          <p:cNvSpPr/>
          <p:nvPr/>
        </p:nvSpPr>
        <p:spPr>
          <a:xfrm>
            <a:off x="2782372" y="3891201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015008" y="45361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精準推薦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15008" y="4965383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系統能提供更貼合使用場景的建議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4017169"/>
            <a:ext cx="4215408" cy="91440"/>
          </a:xfrm>
          <a:prstGeom prst="roundRect">
            <a:avLst>
              <a:gd name="adj" fmla="val 325581"/>
            </a:avLst>
          </a:prstGeom>
          <a:solidFill>
            <a:srgbClr val="83792E"/>
          </a:solidFill>
          <a:ln/>
        </p:spPr>
      </p:sp>
      <p:sp>
        <p:nvSpPr>
          <p:cNvPr id="9" name="Shape 7"/>
          <p:cNvSpPr/>
          <p:nvPr/>
        </p:nvSpPr>
        <p:spPr>
          <a:xfrm>
            <a:off x="7017425" y="3742373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83792E"/>
          </a:solidFill>
          <a:ln/>
        </p:spPr>
      </p:sp>
      <p:sp>
        <p:nvSpPr>
          <p:cNvPr id="10" name="Text 8"/>
          <p:cNvSpPr/>
          <p:nvPr/>
        </p:nvSpPr>
        <p:spPr>
          <a:xfrm>
            <a:off x="7196018" y="3891201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5428655" y="45361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個人化體驗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428655" y="4965383"/>
            <a:ext cx="37729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根據用戶類型提供差異化回應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21203" y="4017169"/>
            <a:ext cx="4215289" cy="91440"/>
          </a:xfrm>
          <a:prstGeom prst="roundRect">
            <a:avLst>
              <a:gd name="adj" fmla="val 325581"/>
            </a:avLst>
          </a:prstGeom>
          <a:solidFill>
            <a:srgbClr val="E8AF3B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1191" y="3742373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E8AF3B"/>
          </a:solidFill>
          <a:ln/>
        </p:spPr>
      </p:sp>
      <p:sp>
        <p:nvSpPr>
          <p:cNvPr id="15" name="Text 13"/>
          <p:cNvSpPr/>
          <p:nvPr/>
        </p:nvSpPr>
        <p:spPr>
          <a:xfrm>
            <a:off x="11609784" y="3891201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3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9842421" y="45361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專業指導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842421" y="4965383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針對特定需求提供專業建議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167" y="526733"/>
            <a:ext cx="6349841" cy="598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🎯</a:t>
            </a:r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建議 2：智能對話澄清系統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66167" y="1412557"/>
            <a:ext cx="2873335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💡</a:t>
            </a:r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改進概念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766167" y="2058948"/>
            <a:ext cx="13098066" cy="306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當系統檢測到用戶意圖不明確（信心度 &lt; 閾值）時，主動發起澄清對話，逐步收集用戶需求資訊。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6167" y="2652713"/>
            <a:ext cx="2873335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🔄</a:t>
            </a:r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對話澄清流程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437209" y="3747492"/>
            <a:ext cx="239434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用戶查詢</a:t>
            </a:r>
            <a:endParaRPr lang="en-US" sz="1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3009" y="3299103"/>
            <a:ext cx="4584263" cy="458426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351" y="3905250"/>
            <a:ext cx="286583" cy="3582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98725" y="3747492"/>
            <a:ext cx="239434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意圖檢測</a:t>
            </a:r>
            <a:endParaRPr lang="en-US" sz="1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009" y="3299103"/>
            <a:ext cx="4584263" cy="4584263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906" y="4181118"/>
            <a:ext cx="286583" cy="35825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90296" y="5230892"/>
            <a:ext cx="239434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信心度評估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9990296" y="5644991"/>
            <a:ext cx="3873937" cy="306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低於閾值(如0.6)</a:t>
            </a:r>
            <a:endParaRPr lang="en-US" sz="15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3009" y="3299103"/>
            <a:ext cx="4584263" cy="4584263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2284" y="5687854"/>
            <a:ext cx="286583" cy="35825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798725" y="7135654"/>
            <a:ext cx="239434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啟動澄清對話</a:t>
            </a:r>
            <a:endParaRPr lang="en-US" sz="18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3009" y="3299103"/>
            <a:ext cx="4584263" cy="4584263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3108" y="6918722"/>
            <a:ext cx="286583" cy="358259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437209" y="7135654"/>
            <a:ext cx="239434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用戶回答</a:t>
            </a:r>
            <a:endParaRPr lang="en-US" sz="185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3009" y="3299103"/>
            <a:ext cx="4584263" cy="4584263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2553" y="6642854"/>
            <a:ext cx="286583" cy="358259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2245638" y="5230892"/>
            <a:ext cx="239434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更新意圖</a:t>
            </a:r>
            <a:endParaRPr lang="en-US" sz="1850" dirty="0"/>
          </a:p>
        </p:txBody>
      </p:sp>
      <p:sp>
        <p:nvSpPr>
          <p:cNvPr id="23" name="Text 11"/>
          <p:cNvSpPr/>
          <p:nvPr/>
        </p:nvSpPr>
        <p:spPr>
          <a:xfrm>
            <a:off x="766167" y="5644991"/>
            <a:ext cx="3873818" cy="306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達到閾值→生成最終回應</a:t>
            </a:r>
            <a:endParaRPr lang="en-US" sz="150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3009" y="3299103"/>
            <a:ext cx="4584263" cy="4584263"/>
          </a:xfrm>
          <a:prstGeom prst="rect">
            <a:avLst/>
          </a:prstGeom>
        </p:spPr>
      </p:pic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91175" y="5136118"/>
            <a:ext cx="286583" cy="3582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554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🗣️</a:t>
            </a:r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澄清問題範例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601635"/>
            <a:ext cx="318849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情境 1：模糊的性能查詢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93790" y="3196947"/>
            <a:ext cx="6279356" cy="3323868"/>
          </a:xfrm>
          <a:prstGeom prst="roundRect">
            <a:avLst>
              <a:gd name="adj" fmla="val 8957"/>
            </a:avLst>
          </a:prstGeom>
          <a:solidFill>
            <a:srgbClr val="B6D6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3492222"/>
            <a:ext cx="248007" cy="1983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8513" y="3444835"/>
            <a:ext cx="5436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用戶：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"我想要一台性能好的筆電"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438513" y="3940969"/>
            <a:ext cx="5436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系統：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"為了更好地為您推薦，請問您主要用途是什麼？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38513" y="4437102"/>
            <a:ext cx="5436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a.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🎮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遊戲娛樂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438513" y="4933236"/>
            <a:ext cx="5436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b.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💼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辦公工作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438513" y="5429369"/>
            <a:ext cx="5436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c.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🎨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設計創作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438513" y="5925502"/>
            <a:ext cx="5436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d.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📚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學習研究"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564874" y="26016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情境 2：預算導向查詢</a:t>
            </a:r>
            <a:endParaRPr lang="en-US" sz="2300" dirty="0"/>
          </a:p>
        </p:txBody>
      </p:sp>
      <p:sp>
        <p:nvSpPr>
          <p:cNvPr id="13" name="Shape 10"/>
          <p:cNvSpPr/>
          <p:nvPr/>
        </p:nvSpPr>
        <p:spPr>
          <a:xfrm>
            <a:off x="7564874" y="3196947"/>
            <a:ext cx="6279356" cy="2827734"/>
          </a:xfrm>
          <a:prstGeom prst="roundRect">
            <a:avLst>
              <a:gd name="adj" fmla="val 10528"/>
            </a:avLst>
          </a:prstGeom>
          <a:solidFill>
            <a:srgbClr val="B6D6F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232" y="3492222"/>
            <a:ext cx="248007" cy="19835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09598" y="3444835"/>
            <a:ext cx="5436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用戶：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"有什麼便宜的筆電推薦？"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8209598" y="3940969"/>
            <a:ext cx="5436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系統：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"請問您的預算範圍大約是多少？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8209598" y="4437102"/>
            <a:ext cx="5436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a.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💰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經濟型（2-3萬）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8209598" y="4933236"/>
            <a:ext cx="5436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b.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💳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中階型（3-5萬）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8209598" y="5429369"/>
            <a:ext cx="5436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c.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💎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高階型（5萬以上）"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848" y="341590"/>
            <a:ext cx="3105507" cy="395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🛠️</a:t>
            </a:r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技術實作方案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848" y="923687"/>
            <a:ext cx="1863328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1. 細緻意圖分類實作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848" y="1342906"/>
            <a:ext cx="13636704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修改 query_keywords.json 結構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848" y="1681163"/>
            <a:ext cx="13636704" cy="2767965"/>
          </a:xfrm>
          <a:prstGeom prst="roundRect">
            <a:avLst>
              <a:gd name="adj" fmla="val 6732"/>
            </a:avLst>
          </a:prstGeom>
          <a:solidFill>
            <a:srgbClr val="E9DEC7"/>
          </a:solidFill>
          <a:ln/>
        </p:spPr>
      </p:sp>
      <p:sp>
        <p:nvSpPr>
          <p:cNvPr id="6" name="Shape 4"/>
          <p:cNvSpPr/>
          <p:nvPr/>
        </p:nvSpPr>
        <p:spPr>
          <a:xfrm>
            <a:off x="490657" y="1681163"/>
            <a:ext cx="13649087" cy="2767965"/>
          </a:xfrm>
          <a:prstGeom prst="roundRect">
            <a:avLst>
              <a:gd name="adj" fmla="val 673"/>
            </a:avLst>
          </a:prstGeom>
          <a:solidFill>
            <a:srgbClr val="E9DEC7"/>
          </a:solidFill>
          <a:ln/>
        </p:spPr>
      </p:sp>
      <p:sp>
        <p:nvSpPr>
          <p:cNvPr id="7" name="Text 5"/>
          <p:cNvSpPr/>
          <p:nvPr/>
        </p:nvSpPr>
        <p:spPr>
          <a:xfrm>
            <a:off x="614839" y="1774269"/>
            <a:ext cx="13400723" cy="2581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 "intent_keywords": {   "基礎意圖": {     "sub_intents": {       "細分意圖": {         "keywords": [],         "description": "",         "scenarios": [],         "priority_specs": []       }     }   } } }  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96848" y="4588788"/>
            <a:ext cx="13636704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新增階層式意圖檢測方法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6848" y="4927044"/>
            <a:ext cx="13636704" cy="2966561"/>
          </a:xfrm>
          <a:prstGeom prst="roundRect">
            <a:avLst>
              <a:gd name="adj" fmla="val 6281"/>
            </a:avLst>
          </a:prstGeom>
          <a:solidFill>
            <a:srgbClr val="E9DEC7"/>
          </a:solidFill>
          <a:ln/>
        </p:spPr>
      </p:sp>
      <p:sp>
        <p:nvSpPr>
          <p:cNvPr id="10" name="Shape 8"/>
          <p:cNvSpPr/>
          <p:nvPr/>
        </p:nvSpPr>
        <p:spPr>
          <a:xfrm>
            <a:off x="490657" y="4927044"/>
            <a:ext cx="13649087" cy="2966561"/>
          </a:xfrm>
          <a:prstGeom prst="roundRect">
            <a:avLst>
              <a:gd name="adj" fmla="val 628"/>
            </a:avLst>
          </a:prstGeom>
          <a:solidFill>
            <a:srgbClr val="E9DEC7"/>
          </a:solidFill>
          <a:ln/>
        </p:spPr>
      </p:sp>
      <p:sp>
        <p:nvSpPr>
          <p:cNvPr id="11" name="Text 9"/>
          <p:cNvSpPr/>
          <p:nvPr/>
        </p:nvSpPr>
        <p:spPr>
          <a:xfrm>
            <a:off x="614839" y="5020151"/>
            <a:ext cx="13400723" cy="2780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detect_hierarchical_intent(self, query: str) -&gt; dict: # 1. 檢測基礎意圖 base_intents = self.detect_base_intents(query) # 2. 在基礎意圖下檢測細分意圖 sub_intents = [] for base_intent in base_intents: sub_intent = self.detect_sub_intent(query, base_intent) if sub_intent: sub_intents.append(sub_intent)  # 3. 計算組合信心度 return self.calculate_hierarchical_confidence(base_intents, sub_intents)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44" y="427434"/>
            <a:ext cx="3886557" cy="493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🛠️</a:t>
            </a:r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技術實作方案 (續)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21744" y="1153954"/>
            <a:ext cx="2331958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2. 智能澄清對話實作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1744" y="1678543"/>
            <a:ext cx="13386911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澄清對話管理器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44" y="2102048"/>
            <a:ext cx="13386911" cy="5704999"/>
          </a:xfrm>
          <a:prstGeom prst="roundRect">
            <a:avLst>
              <a:gd name="adj" fmla="val 4088"/>
            </a:avLst>
          </a:prstGeom>
          <a:solidFill>
            <a:srgbClr val="E9DEC7"/>
          </a:solidFill>
          <a:ln/>
        </p:spPr>
      </p:sp>
      <p:sp>
        <p:nvSpPr>
          <p:cNvPr id="6" name="Shape 4"/>
          <p:cNvSpPr/>
          <p:nvPr/>
        </p:nvSpPr>
        <p:spPr>
          <a:xfrm>
            <a:off x="614005" y="2102048"/>
            <a:ext cx="13402389" cy="5704999"/>
          </a:xfrm>
          <a:prstGeom prst="roundRect">
            <a:avLst>
              <a:gd name="adj" fmla="val 409"/>
            </a:avLst>
          </a:prstGeom>
          <a:solidFill>
            <a:srgbClr val="E9DEC7"/>
          </a:solidFill>
          <a:ln/>
        </p:spPr>
      </p:sp>
      <p:sp>
        <p:nvSpPr>
          <p:cNvPr id="7" name="Text 5"/>
          <p:cNvSpPr/>
          <p:nvPr/>
        </p:nvSpPr>
        <p:spPr>
          <a:xfrm>
            <a:off x="769382" y="2218611"/>
            <a:ext cx="13091636" cy="5471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ClarificationManager: def __init__(self): self.clarification_templates = self._load_clarification_templates() self.conversation_state = {} def should_clarify(self, intent_result: dict) -&gt; bool: """判斷是否需要澄清""" return intent_result["confidence_score"] &lt; 0.6  def generate_clarification_question(self, intent_result: dict) -&gt; str: """生成澄清問題""" unclear_aspects = self._identify_unclear_aspects(intent_result) return self._create_clarification_prompt(unclear_aspects)  def process_clarification_response(self, user_response: str, conversation_id: str) -&gt; dict: """處理用戶的澄清回應""" # 更新對話狀態 self._update_conversation_state(conversation_id, user_response) # 重新評估意圖 updated_intent = self._reassess_intent(conversation_id) return updated_intent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6366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澄清問題模板系統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680579"/>
            <a:ext cx="13042821" cy="1885355"/>
          </a:xfrm>
          <a:prstGeom prst="roundRect">
            <a:avLst>
              <a:gd name="adj" fmla="val 15791"/>
            </a:avLst>
          </a:prstGeom>
          <a:solidFill>
            <a:srgbClr val="E9DEC7"/>
          </a:solidFill>
          <a:ln/>
        </p:spPr>
      </p:sp>
      <p:sp>
        <p:nvSpPr>
          <p:cNvPr id="4" name="Shape 2"/>
          <p:cNvSpPr/>
          <p:nvPr/>
        </p:nvSpPr>
        <p:spPr>
          <a:xfrm>
            <a:off x="783908" y="3680579"/>
            <a:ext cx="13062585" cy="1885355"/>
          </a:xfrm>
          <a:prstGeom prst="roundRect">
            <a:avLst>
              <a:gd name="adj" fmla="val 1579"/>
            </a:avLst>
          </a:prstGeom>
          <a:solidFill>
            <a:srgbClr val="E9DEC7"/>
          </a:solidFill>
          <a:ln/>
        </p:spPr>
      </p:sp>
      <p:sp>
        <p:nvSpPr>
          <p:cNvPr id="5" name="Text 3"/>
          <p:cNvSpPr/>
          <p:nvPr/>
        </p:nvSpPr>
        <p:spPr>
          <a:xfrm>
            <a:off x="982266" y="3829407"/>
            <a:ext cx="1266586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CLARIFICATION_TEMPLATES = { "usage_scenario": { "question": "請問您主要的使用場景是？", "options": [ {"id": "gaming", "label": "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437" y="440769"/>
            <a:ext cx="4003238" cy="500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📊</a:t>
            </a:r>
            <a:pPr algn="l" indent="0" marL="0">
              <a:lnSpc>
                <a:spcPts val="3900"/>
              </a:lnSpc>
              <a:buNone/>
            </a:pPr>
            <a:r>
              <a:rPr lang="en-US" sz="3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實作效益預估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40437" y="1341239"/>
            <a:ext cx="2401848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量化改進指標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40437" y="1901547"/>
            <a:ext cx="5955982" cy="200144"/>
          </a:xfrm>
          <a:prstGeom prst="roundRect">
            <a:avLst>
              <a:gd name="adj" fmla="val 120011"/>
            </a:avLst>
          </a:prstGeom>
          <a:solidFill>
            <a:srgbClr val="F6EBD4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437" y="1901547"/>
            <a:ext cx="5062538" cy="200144"/>
          </a:xfrm>
          <a:prstGeom prst="roundRect">
            <a:avLst>
              <a:gd name="adj" fmla="val 120011"/>
            </a:avLst>
          </a:prstGeom>
          <a:solidFill>
            <a:srgbClr val="626C3B"/>
          </a:solidFill>
          <a:ln/>
        </p:spPr>
      </p:sp>
      <p:sp>
        <p:nvSpPr>
          <p:cNvPr id="6" name="Text 4"/>
          <p:cNvSpPr/>
          <p:nvPr/>
        </p:nvSpPr>
        <p:spPr>
          <a:xfrm>
            <a:off x="6716435" y="1901547"/>
            <a:ext cx="403503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85%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40437" y="2301716"/>
            <a:ext cx="2001560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意圖識別準確率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437" y="2711887"/>
            <a:ext cx="6479500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預期從 70% 提升至 85%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437" y="3448407"/>
            <a:ext cx="5948363" cy="200144"/>
          </a:xfrm>
          <a:prstGeom prst="roundRect">
            <a:avLst>
              <a:gd name="adj" fmla="val 120011"/>
            </a:avLst>
          </a:prstGeom>
          <a:solidFill>
            <a:srgbClr val="F6EBD4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437" y="3448407"/>
            <a:ext cx="1784509" cy="200144"/>
          </a:xfrm>
          <a:prstGeom prst="roundRect">
            <a:avLst>
              <a:gd name="adj" fmla="val 120011"/>
            </a:avLst>
          </a:prstGeom>
          <a:solidFill>
            <a:srgbClr val="83792E"/>
          </a:solidFill>
          <a:ln/>
        </p:spPr>
      </p:sp>
      <p:sp>
        <p:nvSpPr>
          <p:cNvPr id="11" name="Text 9"/>
          <p:cNvSpPr/>
          <p:nvPr/>
        </p:nvSpPr>
        <p:spPr>
          <a:xfrm>
            <a:off x="6708815" y="3448407"/>
            <a:ext cx="411123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30%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437" y="3848576"/>
            <a:ext cx="2001560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用戶滿意度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0437" y="4258747"/>
            <a:ext cx="6479500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透過精準推薦提升 30%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437" y="4995267"/>
            <a:ext cx="5936933" cy="200144"/>
          </a:xfrm>
          <a:prstGeom prst="roundRect">
            <a:avLst>
              <a:gd name="adj" fmla="val 120011"/>
            </a:avLst>
          </a:prstGeom>
          <a:solidFill>
            <a:srgbClr val="F6EBD4"/>
          </a:solidFill>
          <a:ln w="7620">
            <a:solidFill>
              <a:srgbClr val="CE952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437" y="4995267"/>
            <a:ext cx="2374702" cy="200144"/>
          </a:xfrm>
          <a:prstGeom prst="roundRect">
            <a:avLst>
              <a:gd name="adj" fmla="val 120011"/>
            </a:avLst>
          </a:prstGeom>
          <a:solidFill>
            <a:srgbClr val="E8AF3B"/>
          </a:solidFill>
          <a:ln/>
        </p:spPr>
      </p:sp>
      <p:sp>
        <p:nvSpPr>
          <p:cNvPr id="16" name="Text 14"/>
          <p:cNvSpPr/>
          <p:nvPr/>
        </p:nvSpPr>
        <p:spPr>
          <a:xfrm>
            <a:off x="6697385" y="4995267"/>
            <a:ext cx="422553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40%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0437" y="5395436"/>
            <a:ext cx="2001560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對話完成率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0437" y="5805607"/>
            <a:ext cx="6479500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減少無效查詢 40%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437" y="6542127"/>
            <a:ext cx="5947172" cy="200144"/>
          </a:xfrm>
          <a:prstGeom prst="roundRect">
            <a:avLst>
              <a:gd name="adj" fmla="val 120011"/>
            </a:avLst>
          </a:prstGeom>
          <a:solidFill>
            <a:srgbClr val="F6EBD4"/>
          </a:solidFill>
          <a:ln w="7620">
            <a:solidFill>
              <a:srgbClr val="B277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437" y="6542127"/>
            <a:ext cx="2973586" cy="200144"/>
          </a:xfrm>
          <a:prstGeom prst="roundRect">
            <a:avLst>
              <a:gd name="adj" fmla="val 120011"/>
            </a:avLst>
          </a:prstGeom>
          <a:solidFill>
            <a:srgbClr val="CC914D"/>
          </a:solidFill>
          <a:ln/>
        </p:spPr>
      </p:sp>
      <p:sp>
        <p:nvSpPr>
          <p:cNvPr id="21" name="Text 19"/>
          <p:cNvSpPr/>
          <p:nvPr/>
        </p:nvSpPr>
        <p:spPr>
          <a:xfrm>
            <a:off x="6707624" y="6542127"/>
            <a:ext cx="412313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50%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0437" y="6942296"/>
            <a:ext cx="2001560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推薦相關性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437" y="7352467"/>
            <a:ext cx="6479500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提升 50%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518083" y="1341239"/>
            <a:ext cx="2401848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技術架構優勢</a:t>
            </a:r>
            <a:endParaRPr lang="en-US" sz="1850" dirty="0"/>
          </a:p>
        </p:txBody>
      </p:sp>
      <p:sp>
        <p:nvSpPr>
          <p:cNvPr id="25" name="Shape 23"/>
          <p:cNvSpPr/>
          <p:nvPr/>
        </p:nvSpPr>
        <p:spPr>
          <a:xfrm>
            <a:off x="7518083" y="1821537"/>
            <a:ext cx="6479500" cy="1032153"/>
          </a:xfrm>
          <a:prstGeom prst="roundRect">
            <a:avLst>
              <a:gd name="adj" fmla="val 23271"/>
            </a:avLst>
          </a:prstGeom>
          <a:noFill/>
          <a:ln w="22860">
            <a:solidFill>
              <a:srgbClr val="626C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00963" y="2004417"/>
            <a:ext cx="2001560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模組化設計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700963" y="2414588"/>
            <a:ext cx="6113740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澄清系統獨立運作，不影響現有功能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518083" y="3013710"/>
            <a:ext cx="6479500" cy="1032153"/>
          </a:xfrm>
          <a:prstGeom prst="roundRect">
            <a:avLst>
              <a:gd name="adj" fmla="val 23271"/>
            </a:avLst>
          </a:prstGeom>
          <a:noFill/>
          <a:ln w="22860">
            <a:solidFill>
              <a:srgbClr val="8379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00963" y="3196590"/>
            <a:ext cx="2001560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漸進式改進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7700963" y="3606760"/>
            <a:ext cx="6113740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可分階段實作，降低風險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18083" y="4205883"/>
            <a:ext cx="6479500" cy="1032153"/>
          </a:xfrm>
          <a:prstGeom prst="roundRect">
            <a:avLst>
              <a:gd name="adj" fmla="val 23271"/>
            </a:avLst>
          </a:prstGeom>
          <a:noFill/>
          <a:ln w="22860">
            <a:solidFill>
              <a:srgbClr val="E8AF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00963" y="4388763"/>
            <a:ext cx="2001560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數據驅動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700963" y="4798933"/>
            <a:ext cx="6113740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收集對話數據持續優化澄清邏輯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518083" y="5398056"/>
            <a:ext cx="6479500" cy="1032153"/>
          </a:xfrm>
          <a:prstGeom prst="roundRect">
            <a:avLst>
              <a:gd name="adj" fmla="val 23271"/>
            </a:avLst>
          </a:prstGeom>
          <a:noFill/>
          <a:ln w="22860">
            <a:solidFill>
              <a:srgbClr val="CC91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00963" y="5580936"/>
            <a:ext cx="2001560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用戶體驗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7700963" y="5991106"/>
            <a:ext cx="6113740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引導式對話提升使用便利性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066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🔮</a:t>
            </a:r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進階功能展望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53675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學習型澄清系統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10718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模式學習: 從歷史對話中學習有效的澄清策略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49413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個人化記憶: 記住用戶偏好，減少重複澄清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88108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上下文理解: 基於對話歷史提供更智能的澄清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53675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多模態澄清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564874" y="410718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圖片選擇: 透過產品圖片讓用戶選擇偏好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449413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規格滑桿: 視覺化的規格選擇介面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488108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使用場景模擬: 透過情境描述幫助用戶表達需求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549128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這兩個建議的實作將讓 SalesRAG 從「被動回應」進化為「主動理解」的智能銷售助手，大幅提升用戶體驗和推薦準確性。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2025-07-18T07:22:15Z</dcterms:created>
  <dcterms:modified xsi:type="dcterms:W3CDTF">2025-07-18T07:22:15Z</dcterms:modified>
</cp:coreProperties>
</file>